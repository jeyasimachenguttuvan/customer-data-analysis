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73" r:id="rId6"/>
    <p:sldId id="275" r:id="rId7"/>
    <p:sldId id="272" r:id="rId8"/>
    <p:sldId id="266" r:id="rId9"/>
    <p:sldId id="283" r:id="rId10"/>
    <p:sldId id="278" r:id="rId11"/>
    <p:sldId id="279" r:id="rId12"/>
    <p:sldId id="276" r:id="rId13"/>
    <p:sldId id="277" r:id="rId14"/>
    <p:sldId id="280" r:id="rId15"/>
    <p:sldId id="281" r:id="rId16"/>
    <p:sldId id="282" r:id="rId17"/>
    <p:sldId id="271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A50D0DB-FC37-4A90-8B38-1FBBD93CD1E0}">
          <p14:sldIdLst>
            <p14:sldId id="256"/>
            <p14:sldId id="257"/>
            <p14:sldId id="258"/>
            <p14:sldId id="273"/>
            <p14:sldId id="275"/>
          </p14:sldIdLst>
        </p14:section>
        <p14:section name="Untitled Section" id="{FFAA466A-8872-4BE8-884B-83DF858DA260}">
          <p14:sldIdLst>
            <p14:sldId id="272"/>
            <p14:sldId id="266"/>
            <p14:sldId id="283"/>
            <p14:sldId id="278"/>
            <p14:sldId id="279"/>
            <p14:sldId id="276"/>
          </p14:sldIdLst>
        </p14:section>
        <p14:section name="Untitled Section" id="{8D5ED117-9124-4D75-B094-6F33901DAB98}">
          <p14:sldIdLst>
            <p14:sldId id="277"/>
            <p14:sldId id="280"/>
            <p14:sldId id="281"/>
            <p14:sldId id="282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84">
          <p15:clr>
            <a:srgbClr val="000000"/>
          </p15:clr>
        </p15:guide>
        <p15:guide id="2" pos="912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A5C2"/>
    <a:srgbClr val="0AD1EC"/>
    <a:srgbClr val="89E1F3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693" autoAdjust="0"/>
  </p:normalViewPr>
  <p:slideViewPr>
    <p:cSldViewPr snapToGrid="0">
      <p:cViewPr varScale="1">
        <p:scale>
          <a:sx n="61" d="100"/>
          <a:sy n="61" d="100"/>
        </p:scale>
        <p:origin x="2002" y="58"/>
      </p:cViewPr>
      <p:guideLst>
        <p:guide orient="horz" pos="3984"/>
        <p:guide pos="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C80CC48-DCA1-BA57-C92F-5CA2A16F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7FE57E1D-47ED-C992-7A8A-BE38147DF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BEE7781B-E9E9-BCD1-C2C3-46C0F0953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919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F9863EA-C89E-029D-E7C0-069ADA13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CF82C80C-DCEB-7FA6-EE8C-CE941D9A3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CA78DCD8-9053-7C5C-8BEC-E5793A0D1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44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0FDC082-F29F-1112-C229-1B990E49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11B20C97-25ED-9677-2CE4-DD17DD4F2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B0451430-6181-CC34-AA57-2F29D71B0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309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3FEDFE8-D0F0-8079-419D-BCD90A2C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4F00B48E-B9B9-47E8-CD97-0AEBE60B3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310AF736-A6A7-96ED-6B74-0BFABD1FC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411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267B83F-CB3C-9225-52C9-00358E5C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4AE7EF3A-96CB-14F0-F666-5FD5911E3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6D3BA149-436B-3C04-6A30-1D6956754A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535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29BC639-748A-DAA6-5739-8BF6789A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1287F196-9576-275C-594E-498DE5F6E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AB572064-9FC3-AA7E-76A6-DC04E5A34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879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4F271B2-875C-CFE4-1E58-F62CF23A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EC79FEBA-F82B-F0E7-2CCF-268EA3EC5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6248D526-985A-65FF-95A7-0627FA17B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199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5C39488-5B28-E4B8-5DF9-6E22E952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5A141398-1C10-5F11-9A68-03803F6DB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F0C27672-8D53-4A8E-414F-374148226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510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97B8764-36AA-A69A-D2AB-065F546A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>
            <a:extLst>
              <a:ext uri="{FF2B5EF4-FFF2-40B4-BE49-F238E27FC236}">
                <a16:creationId xmlns:a16="http://schemas.microsoft.com/office/drawing/2014/main" id="{3544A83A-A031-FA4B-7317-A9E2F305F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3:notes">
            <a:extLst>
              <a:ext uri="{FF2B5EF4-FFF2-40B4-BE49-F238E27FC236}">
                <a16:creationId xmlns:a16="http://schemas.microsoft.com/office/drawing/2014/main" id="{C0541DB8-86CC-8D56-4A37-E95A83D97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35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 rot="5400000">
            <a:off x="2433637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 rtl="0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 rtl="0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 rtl="0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 rtl="0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 rtl="0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 rtl="0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 rtl="0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74650" algn="l" rtl="0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 dirty="0"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74650" algn="l" rtl="0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09600" y="1566862"/>
            <a:ext cx="7958138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 dirty="0"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49A57D-2A59-F45A-020C-49B27FF0C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57" y="0"/>
            <a:ext cx="9144000" cy="6858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7" name="Google Shape;97;p14"/>
          <p:cNvSpPr txBox="1">
            <a:spLocks noGrp="1"/>
          </p:cNvSpPr>
          <p:nvPr>
            <p:ph type="ctrTitle"/>
          </p:nvPr>
        </p:nvSpPr>
        <p:spPr>
          <a:xfrm>
            <a:off x="-12357" y="2821858"/>
            <a:ext cx="9156357" cy="88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SzPts val="3600"/>
            </a:pPr>
            <a:r>
              <a:rPr lang="en-US" dirty="0"/>
              <a:t>Customer Data Analysis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457200" y="5029200"/>
            <a:ext cx="24384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46845-ADC2-082A-E2FC-CD15B7BC1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  <p:sp>
        <p:nvSpPr>
          <p:cNvPr id="107" name="Google Shape;107;p15"/>
          <p:cNvSpPr txBox="1">
            <a:spLocks noGrp="1"/>
          </p:cNvSpPr>
          <p:nvPr>
            <p:ph type="ctrTitle"/>
          </p:nvPr>
        </p:nvSpPr>
        <p:spPr>
          <a:xfrm>
            <a:off x="0" y="1769807"/>
            <a:ext cx="9144000" cy="102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SzPts val="4000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PROJECT TITLE 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PRDA-05 Customer Data Analysis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1"/>
          </p:nvPr>
        </p:nvSpPr>
        <p:spPr>
          <a:xfrm>
            <a:off x="0" y="3687097"/>
            <a:ext cx="9144000" cy="3170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buSzPts val="1600"/>
            </a:pPr>
            <a:r>
              <a:rPr lang="pt-B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TEAM  MEMBERS:</a:t>
            </a:r>
          </a:p>
          <a:p>
            <a:pPr marL="0" lvl="0" indent="0" algn="ctr">
              <a:spcBef>
                <a:spcPts val="0"/>
              </a:spcBef>
              <a:buSzPts val="1600"/>
            </a:pPr>
            <a:endParaRPr lang="en-US" sz="1600" b="1" u="sng" dirty="0">
              <a:solidFill>
                <a:srgbClr val="000000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lvl="0" indent="0" algn="ctr">
              <a:spcBef>
                <a:spcPts val="0"/>
              </a:spcBef>
              <a:spcAft>
                <a:spcPts val="1200"/>
              </a:spcAft>
              <a:buSzPts val="16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JEYASIMA.C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spcAft>
                <a:spcPts val="1200"/>
              </a:spcAft>
              <a:buSzPts val="16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DIVAGAR.J</a:t>
            </a:r>
          </a:p>
          <a:p>
            <a:pPr marL="0" lvl="0" indent="0" algn="ctr">
              <a:spcBef>
                <a:spcPts val="0"/>
              </a:spcBef>
              <a:buSzPts val="16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HARISH.V</a:t>
            </a: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 dirty="0"/>
          </a:p>
        </p:txBody>
      </p:sp>
      <p:sp>
        <p:nvSpPr>
          <p:cNvPr id="5" name="Google Shape;107;p15">
            <a:extLst>
              <a:ext uri="{FF2B5EF4-FFF2-40B4-BE49-F238E27FC236}">
                <a16:creationId xmlns:a16="http://schemas.microsoft.com/office/drawing/2014/main" id="{74A7F72A-9792-2E61-5A4D-473729C21B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159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algn="ctr">
              <a:buSzPts val="4000"/>
            </a:pPr>
            <a:r>
              <a:rPr lang="en-US" sz="3200" b="1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omic Sans MS"/>
                <a:sym typeface="Comic Sans MS"/>
              </a:rPr>
              <a:t>PROJECT ID : </a:t>
            </a:r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PTID-CDA-DEC-25-971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D87C6D-90B8-AD3D-C600-BD6CB2FAC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9862" y="0"/>
            <a:ext cx="9353862" cy="6858000"/>
          </a:xfrm>
          <a:prstGeom prst="rect">
            <a:avLst/>
          </a:prstGeom>
        </p:spPr>
      </p:pic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574674" y="668593"/>
            <a:ext cx="7782745" cy="678425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omic Sans MS"/>
              <a:buNone/>
            </a:pPr>
            <a:r>
              <a:rPr lang="en-US" sz="3800" b="1" i="0" dirty="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800" b="1" i="0" dirty="0">
                <a:solidFill>
                  <a:schemeClr val="dk2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OBJECTIVE</a:t>
            </a:r>
            <a:r>
              <a:rPr lang="en-US" sz="3800" b="1" i="0" dirty="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:</a:t>
            </a:r>
            <a:endParaRPr dirty="0"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462116" y="1779639"/>
            <a:ext cx="7895303" cy="427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3000"/>
              <a:buNone/>
            </a:pPr>
            <a:r>
              <a:rPr lang="en-US" sz="2000" dirty="0"/>
              <a:t>     “The objective of this project is to analyze customer shopping behavior across gender, age groups, product categories, 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  <a:r>
              <a:rPr lang="en-US" sz="2000" dirty="0"/>
              <a:t> methods using Power BI in order to identify sales patterns, revenue contribution, and actionable business insights.”</a:t>
            </a:r>
            <a:endParaRPr lang="en-GB" sz="2000" dirty="0"/>
          </a:p>
          <a:p>
            <a:pPr marL="0" lvl="0" indent="0" algn="just">
              <a:spcBef>
                <a:spcPts val="0"/>
              </a:spcBef>
              <a:buSzPts val="3000"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8615EED-E9A8-4A51-3C2C-98354383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99F5C6-6B68-5EDA-6FCD-B531DC6B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33" y="0"/>
            <a:ext cx="9413823" cy="6858000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723738CF-1521-2CB6-0F8B-B4E1E5912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9" y="550606"/>
            <a:ext cx="7781196" cy="7079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14300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DATASET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5CC044FD-533C-4A19-5679-6FF6B850F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8593" y="1474840"/>
            <a:ext cx="7899143" cy="396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Aft>
                <a:spcPts val="18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 dataset contains shopping information from 10 different shopping malls between 2021 and 2023.</a:t>
            </a:r>
          </a:p>
          <a:p>
            <a:pPr algn="just">
              <a:spcAft>
                <a:spcPts val="18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We have gathered data from various age groups and genders to provide a comprehensive view of shopping habits in Istanbul. </a:t>
            </a:r>
          </a:p>
          <a:p>
            <a:pPr algn="just">
              <a:spcAft>
                <a:spcPts val="18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dataset includes essential information such as invoice numbers, customer IDs, age, gender, payment methods, product categories, quantity, price, order dates, and shopping mall locations.</a:t>
            </a:r>
          </a:p>
        </p:txBody>
      </p:sp>
    </p:spTree>
    <p:extLst>
      <p:ext uri="{BB962C8B-B14F-4D97-AF65-F5344CB8AC3E}">
        <p14:creationId xmlns:p14="http://schemas.microsoft.com/office/powerpoint/2010/main" val="688158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22F2A-94BD-DCC7-17D5-AE2FE940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D775A6-F85F-6FCB-7D75-FD7F51917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413823" cy="6974733"/>
          </a:xfrm>
          <a:prstGeom prst="rect">
            <a:avLst/>
          </a:prstGeom>
        </p:spPr>
      </p:pic>
      <p:sp>
        <p:nvSpPr>
          <p:cNvPr id="4" name="Google Shape;175;p26">
            <a:extLst>
              <a:ext uri="{FF2B5EF4-FFF2-40B4-BE49-F238E27FC236}">
                <a16:creationId xmlns:a16="http://schemas.microsoft.com/office/drawing/2014/main" id="{C223E87F-11AE-B445-EF1D-FED9E15195F8}"/>
              </a:ext>
            </a:extLst>
          </p:cNvPr>
          <p:cNvSpPr txBox="1">
            <a:spLocks/>
          </p:cNvSpPr>
          <p:nvPr/>
        </p:nvSpPr>
        <p:spPr>
          <a:xfrm>
            <a:off x="816312" y="483854"/>
            <a:ext cx="7781196" cy="6559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>
              <a:buClr>
                <a:schemeClr val="dk2"/>
              </a:buClr>
              <a:buSzPts val="3800"/>
            </a:pPr>
            <a:r>
              <a:rPr lang="en-IN" dirty="0"/>
              <a:t>Attribute Information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25252-90FF-4194-660B-31C62EEA3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4453" y="1159647"/>
            <a:ext cx="2851679" cy="1249030"/>
          </a:xfrm>
        </p:spPr>
        <p:txBody>
          <a:bodyPr/>
          <a:lstStyle/>
          <a:p>
            <a:pPr marL="0" indent="0" defTabSz="93980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Invoice_no :   </a:t>
            </a:r>
          </a:p>
          <a:p>
            <a:pPr marL="1081088" indent="-1081088" algn="just">
              <a:buNone/>
              <a:tabLst>
                <a:tab pos="1163638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the letter 'I’ </a:t>
            </a:r>
          </a:p>
          <a:p>
            <a:pPr marL="1081088" indent="-1081088" algn="just">
              <a:buNone/>
              <a:tabLst>
                <a:tab pos="1163638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and a 6-digit integer uniquely </a:t>
            </a:r>
          </a:p>
          <a:p>
            <a:pPr marL="1081088" indent="-1081088" algn="just">
              <a:buNone/>
              <a:tabLst>
                <a:tab pos="1163638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assigned to each operation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EFCD99D-0017-F80F-11C8-EAD7CA164B65}"/>
              </a:ext>
            </a:extLst>
          </p:cNvPr>
          <p:cNvSpPr txBox="1">
            <a:spLocks/>
          </p:cNvSpPr>
          <p:nvPr/>
        </p:nvSpPr>
        <p:spPr>
          <a:xfrm>
            <a:off x="1443862" y="3452411"/>
            <a:ext cx="2851679" cy="842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93663" indent="20638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:  </a:t>
            </a:r>
          </a:p>
          <a:p>
            <a:pPr marL="446088" indent="-331788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variable of the        customer's gender.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06EBA92-250B-6A52-1AFB-FEB29353BB66}"/>
              </a:ext>
            </a:extLst>
          </p:cNvPr>
          <p:cNvSpPr txBox="1">
            <a:spLocks/>
          </p:cNvSpPr>
          <p:nvPr/>
        </p:nvSpPr>
        <p:spPr>
          <a:xfrm>
            <a:off x="1450152" y="2334560"/>
            <a:ext cx="2851679" cy="106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 :  </a:t>
            </a:r>
          </a:p>
          <a:p>
            <a:pPr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 combination of the letter 'C' and a 6-digit integer uniquely assigned to each operation.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7401CAB-F538-8810-835E-302338AD5791}"/>
              </a:ext>
            </a:extLst>
          </p:cNvPr>
          <p:cNvSpPr txBox="1">
            <a:spLocks/>
          </p:cNvSpPr>
          <p:nvPr/>
        </p:nvSpPr>
        <p:spPr>
          <a:xfrm>
            <a:off x="1450167" y="4304227"/>
            <a:ext cx="2851679" cy="772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:  </a:t>
            </a:r>
          </a:p>
          <a:p>
            <a:pPr marL="446088" indent="-269875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Positive Integer variable of the customer's age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E861F26-57B2-B1A6-61E3-DA1ED8F16E5A}"/>
              </a:ext>
            </a:extLst>
          </p:cNvPr>
          <p:cNvSpPr txBox="1">
            <a:spLocks/>
          </p:cNvSpPr>
          <p:nvPr/>
        </p:nvSpPr>
        <p:spPr>
          <a:xfrm>
            <a:off x="1446352" y="5126368"/>
            <a:ext cx="2851679" cy="8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:  </a:t>
            </a:r>
          </a:p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variable of the category of the purchased product.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AC05EA0-BE22-7595-F824-8504B49FEC42}"/>
              </a:ext>
            </a:extLst>
          </p:cNvPr>
          <p:cNvSpPr txBox="1">
            <a:spLocks/>
          </p:cNvSpPr>
          <p:nvPr/>
        </p:nvSpPr>
        <p:spPr>
          <a:xfrm>
            <a:off x="4977129" y="1156793"/>
            <a:ext cx="2851679" cy="85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-45720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 :</a:t>
            </a:r>
          </a:p>
          <a:p>
            <a:pPr marL="446088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quantities of each     product (item) per transaction.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127BD86-E87A-3D76-7A0B-329A2BAA49B2}"/>
              </a:ext>
            </a:extLst>
          </p:cNvPr>
          <p:cNvSpPr txBox="1">
            <a:spLocks/>
          </p:cNvSpPr>
          <p:nvPr/>
        </p:nvSpPr>
        <p:spPr>
          <a:xfrm>
            <a:off x="4910266" y="2051038"/>
            <a:ext cx="2851679" cy="89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:  </a:t>
            </a:r>
          </a:p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price per unit in Turkish Liras (TL).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3BF5F67-299F-03F2-5562-DFAA56E0C691}"/>
              </a:ext>
            </a:extLst>
          </p:cNvPr>
          <p:cNvSpPr txBox="1">
            <a:spLocks/>
          </p:cNvSpPr>
          <p:nvPr/>
        </p:nvSpPr>
        <p:spPr>
          <a:xfrm>
            <a:off x="4919271" y="2963186"/>
            <a:ext cx="3010986" cy="124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93663" indent="20638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Payment_ method :</a:t>
            </a:r>
          </a:p>
          <a:p>
            <a:pPr marL="446088" indent="-61913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variable of the payment method (cash, credit card, or debit card) used for transaction.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B7A7E79-2587-6CC5-4479-E3DC3C8E7152}"/>
              </a:ext>
            </a:extLst>
          </p:cNvPr>
          <p:cNvSpPr txBox="1">
            <a:spLocks/>
          </p:cNvSpPr>
          <p:nvPr/>
        </p:nvSpPr>
        <p:spPr>
          <a:xfrm>
            <a:off x="4914840" y="4017092"/>
            <a:ext cx="2851679" cy="89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Invoice_date :  </a:t>
            </a:r>
          </a:p>
          <a:p>
            <a:pPr indent="-363538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day when a transaction was generated.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630F6C7-670A-70EE-CDB2-ECC2FA632DF7}"/>
              </a:ext>
            </a:extLst>
          </p:cNvPr>
          <p:cNvSpPr txBox="1">
            <a:spLocks/>
          </p:cNvSpPr>
          <p:nvPr/>
        </p:nvSpPr>
        <p:spPr>
          <a:xfrm>
            <a:off x="4937255" y="4932009"/>
            <a:ext cx="2851679" cy="124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93663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Shopping_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Mall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3663" indent="0">
              <a:buNone/>
              <a:tabLst>
                <a:tab pos="446088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variable of the name of                    	the shopping mall where the    	transaction was made.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815615-AFF7-A5FD-1DBD-A6239D4AB464}"/>
              </a:ext>
            </a:extLst>
          </p:cNvPr>
          <p:cNvSpPr/>
          <p:nvPr/>
        </p:nvSpPr>
        <p:spPr>
          <a:xfrm>
            <a:off x="1598011" y="1250758"/>
            <a:ext cx="2797344" cy="106491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5ACDC-9F0F-719A-EDEA-1B4CC9AFA7B9}"/>
              </a:ext>
            </a:extLst>
          </p:cNvPr>
          <p:cNvSpPr/>
          <p:nvPr/>
        </p:nvSpPr>
        <p:spPr>
          <a:xfrm>
            <a:off x="1598007" y="2412544"/>
            <a:ext cx="2797344" cy="10279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C9369A-2872-BDC2-0BB7-2095F9C14396}"/>
              </a:ext>
            </a:extLst>
          </p:cNvPr>
          <p:cNvSpPr/>
          <p:nvPr/>
        </p:nvSpPr>
        <p:spPr>
          <a:xfrm>
            <a:off x="1604000" y="3532148"/>
            <a:ext cx="2797344" cy="77207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39231-555E-04F8-701D-0B0017837B11}"/>
              </a:ext>
            </a:extLst>
          </p:cNvPr>
          <p:cNvSpPr/>
          <p:nvPr/>
        </p:nvSpPr>
        <p:spPr>
          <a:xfrm>
            <a:off x="1615515" y="4395855"/>
            <a:ext cx="2797344" cy="73940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DCF3B2-D72A-4AD2-3064-CC521AE43B4F}"/>
              </a:ext>
            </a:extLst>
          </p:cNvPr>
          <p:cNvSpPr/>
          <p:nvPr/>
        </p:nvSpPr>
        <p:spPr>
          <a:xfrm>
            <a:off x="1608402" y="5210876"/>
            <a:ext cx="2797344" cy="7950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665BA2-80CC-8EF2-FE37-C53249D71666}"/>
              </a:ext>
            </a:extLst>
          </p:cNvPr>
          <p:cNvSpPr/>
          <p:nvPr/>
        </p:nvSpPr>
        <p:spPr>
          <a:xfrm>
            <a:off x="5071087" y="1250758"/>
            <a:ext cx="2797344" cy="77207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C82086-2F45-2577-2345-6AB8450CF286}"/>
              </a:ext>
            </a:extLst>
          </p:cNvPr>
          <p:cNvSpPr/>
          <p:nvPr/>
        </p:nvSpPr>
        <p:spPr>
          <a:xfrm>
            <a:off x="5075426" y="2116768"/>
            <a:ext cx="2797344" cy="86973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8DB047-F6AA-ABDA-E705-FED4B61458BE}"/>
              </a:ext>
            </a:extLst>
          </p:cNvPr>
          <p:cNvSpPr/>
          <p:nvPr/>
        </p:nvSpPr>
        <p:spPr>
          <a:xfrm>
            <a:off x="5076918" y="3064477"/>
            <a:ext cx="2797344" cy="93206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9D434A-8467-0014-00E8-5B2B96B24A83}"/>
              </a:ext>
            </a:extLst>
          </p:cNvPr>
          <p:cNvSpPr/>
          <p:nvPr/>
        </p:nvSpPr>
        <p:spPr>
          <a:xfrm>
            <a:off x="5069916" y="4079900"/>
            <a:ext cx="2797344" cy="8493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E54166-D456-3676-6D2F-42BDE1886C02}"/>
              </a:ext>
            </a:extLst>
          </p:cNvPr>
          <p:cNvSpPr/>
          <p:nvPr/>
        </p:nvSpPr>
        <p:spPr>
          <a:xfrm>
            <a:off x="5073422" y="5003517"/>
            <a:ext cx="2797344" cy="100242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903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4CB9C9-4831-7482-D92A-AFA503F11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136" y="0"/>
            <a:ext cx="971427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538A13-7296-5FED-7658-4D7795D8EF47}"/>
              </a:ext>
            </a:extLst>
          </p:cNvPr>
          <p:cNvSpPr/>
          <p:nvPr/>
        </p:nvSpPr>
        <p:spPr>
          <a:xfrm>
            <a:off x="481781" y="1317524"/>
            <a:ext cx="8143054" cy="456216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E7CD0-DC94-1B78-6458-C08AC9AE6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620" y="1317524"/>
            <a:ext cx="2801118" cy="4454011"/>
          </a:xfrm>
        </p:spPr>
        <p:txBody>
          <a:bodyPr/>
          <a:lstStyle/>
          <a:p>
            <a:pPr marL="50800" indent="0">
              <a:spcAft>
                <a:spcPts val="600"/>
              </a:spcAft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Shopping Distribution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distribution according to gender: How is the shopping distribution according to gender?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comparison by gender: Which gender did we sell more products to?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 by gender: Which gender generated more revenue?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Purchase category distribution: Distribution of purchase categories relative to other columns?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75;p26">
            <a:extLst>
              <a:ext uri="{FF2B5EF4-FFF2-40B4-BE49-F238E27FC236}">
                <a16:creationId xmlns:a16="http://schemas.microsoft.com/office/drawing/2014/main" id="{1E87A842-BF8C-8FF1-4055-0A7A2CFA5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781" y="471950"/>
            <a:ext cx="8143054" cy="6980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IN" dirty="0"/>
              <a:t>Tasks :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4814A1-988C-1786-68B3-BA5052917CC3}"/>
              </a:ext>
            </a:extLst>
          </p:cNvPr>
          <p:cNvSpPr txBox="1">
            <a:spLocks/>
          </p:cNvSpPr>
          <p:nvPr/>
        </p:nvSpPr>
        <p:spPr>
          <a:xfrm>
            <a:off x="3135424" y="1371603"/>
            <a:ext cx="2801117" cy="456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□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indent="0">
              <a:spcAft>
                <a:spcPts val="1800"/>
              </a:spcAft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Analysis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5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distribution by age: How is the shopping distribution according to age?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6 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comparison by age category: Which age category did we sell more products to?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Task7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 by age category: Which age category generated more revenue?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8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category distribution: Distribution of purchase categories relative to other columns?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FBC416-D227-6D49-CB08-393F1C4A2F64}"/>
              </a:ext>
            </a:extLst>
          </p:cNvPr>
          <p:cNvCxnSpPr>
            <a:cxnSpLocks/>
          </p:cNvCxnSpPr>
          <p:nvPr/>
        </p:nvCxnSpPr>
        <p:spPr>
          <a:xfrm>
            <a:off x="3157224" y="1317524"/>
            <a:ext cx="0" cy="45621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B71359-E5DD-5D63-27E3-172C5870F92B}"/>
              </a:ext>
            </a:extLst>
          </p:cNvPr>
          <p:cNvCxnSpPr>
            <a:cxnSpLocks/>
          </p:cNvCxnSpPr>
          <p:nvPr/>
        </p:nvCxnSpPr>
        <p:spPr>
          <a:xfrm>
            <a:off x="5895519" y="1317524"/>
            <a:ext cx="0" cy="45621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338DDBD-C892-E4FC-8CB1-CEDC8F8EB699}"/>
              </a:ext>
            </a:extLst>
          </p:cNvPr>
          <p:cNvSpPr txBox="1">
            <a:spLocks/>
          </p:cNvSpPr>
          <p:nvPr/>
        </p:nvSpPr>
        <p:spPr>
          <a:xfrm>
            <a:off x="5936541" y="1371603"/>
            <a:ext cx="2685054" cy="5122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□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indent="0">
              <a:spcAft>
                <a:spcPts val="1800"/>
              </a:spcAft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Analysis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9: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with other columns: Does the payment method have a relation with other columns?</a:t>
            </a:r>
          </a:p>
          <a:p>
            <a:pPr marL="508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10 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method distribution: How is the distribution of the payment method?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C80D2C-F650-DC38-DF4C-EC8D252310F6}"/>
              </a:ext>
            </a:extLst>
          </p:cNvPr>
          <p:cNvCxnSpPr/>
          <p:nvPr/>
        </p:nvCxnSpPr>
        <p:spPr>
          <a:xfrm>
            <a:off x="481781" y="1974714"/>
            <a:ext cx="81398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85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0" y="31172"/>
            <a:ext cx="9144000" cy="665018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omic Sans MS"/>
              <a:buNone/>
            </a:pPr>
            <a:r>
              <a:rPr lang="en-US" dirty="0"/>
              <a:t>Dashboard:</a:t>
            </a:r>
            <a:endParaRPr dirty="0"/>
          </a:p>
        </p:txBody>
      </p:sp>
      <p:pic>
        <p:nvPicPr>
          <p:cNvPr id="7" name="Picture 6" descr="A close-up of a chart&#10;&#10;AI-generated content may be incorrect.">
            <a:extLst>
              <a:ext uri="{FF2B5EF4-FFF2-40B4-BE49-F238E27FC236}">
                <a16:creationId xmlns:a16="http://schemas.microsoft.com/office/drawing/2014/main" id="{E6B5CD74-B18A-4358-074F-AB861E015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738" y="696189"/>
            <a:ext cx="9299865" cy="62449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BF8DF2-3DE9-0219-9AC1-39923259363A}"/>
              </a:ext>
            </a:extLst>
          </p:cNvPr>
          <p:cNvSpPr/>
          <p:nvPr/>
        </p:nvSpPr>
        <p:spPr>
          <a:xfrm>
            <a:off x="0" y="758535"/>
            <a:ext cx="9143999" cy="606829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3D7F4B9-2A48-9355-382F-270B41F7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6B2ABB-EFCF-0EA5-D101-AA6565A6E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6228"/>
            <a:ext cx="9416143" cy="7188486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02DB65BD-B83E-B9BB-FCFE-AC422BFACE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INSIGHTS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AE9F08DC-7782-267A-516D-21D8E9ADC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134820"/>
            <a:ext cx="7996230" cy="5124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/>
              <a:t>Task 1: How is the shopping distribution according to gender?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Shopping distribution shows that </a:t>
            </a:r>
            <a:r>
              <a:rPr lang="en-US" sz="1400" b="1" dirty="0"/>
              <a:t>female customers dominate overall shopping activity :</a:t>
            </a:r>
            <a:endParaRPr lang="en-US" sz="1400" dirty="0"/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     Female:</a:t>
            </a:r>
            <a:r>
              <a:rPr lang="en-US" sz="1400" dirty="0"/>
              <a:t> ~59.8%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     Male:</a:t>
            </a:r>
            <a:r>
              <a:rPr lang="en-US" sz="1400" dirty="0"/>
              <a:t> ~40.2%</a:t>
            </a:r>
          </a:p>
          <a:p>
            <a:pPr marL="903288" indent="-425450">
              <a:spcBef>
                <a:spcPts val="0"/>
              </a:spcBef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This indicates that female customers make a higher number of purchases compared to male customers.</a:t>
            </a:r>
          </a:p>
          <a:p>
            <a:pPr marL="93663" indent="-93663">
              <a:spcAft>
                <a:spcPts val="100"/>
              </a:spcAft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Task 2: Which gender did we sell more products to?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The company sold </a:t>
            </a:r>
            <a:r>
              <a:rPr lang="en-US" sz="1400" b="1" dirty="0"/>
              <a:t>more products to female customers</a:t>
            </a:r>
            <a:r>
              <a:rPr lang="en-US" sz="1400" dirty="0"/>
              <a:t>.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Female product count is significantly higher than male.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This suggests stronger product demand and higher purchase frequency among female customers.</a:t>
            </a:r>
            <a:br>
              <a:rPr lang="en-US" sz="1400" dirty="0"/>
            </a:b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Task 3: Which gender generated more revenue?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Female customers generated more revenue than male customers :</a:t>
            </a:r>
            <a:endParaRPr lang="en-US" sz="1400" dirty="0"/>
          </a:p>
          <a:p>
            <a:pPr marL="893763" indent="-415925" defTabSz="89376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  Female revenue ≈ </a:t>
            </a:r>
            <a:r>
              <a:rPr lang="en-US" sz="1400" b="1" dirty="0"/>
              <a:t>₹4.09 Cr</a:t>
            </a:r>
            <a:endParaRPr lang="en-US" sz="1400" dirty="0"/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  Male revenue ≈ </a:t>
            </a:r>
            <a:r>
              <a:rPr lang="en-US" sz="1400" b="1" dirty="0"/>
              <a:t>₹2.76 Cr</a:t>
            </a:r>
            <a:endParaRPr lang="en-US" sz="1400" dirty="0"/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This shows that female customers not only buy more products but also contribute higher overall revenue.</a:t>
            </a:r>
            <a:br>
              <a:rPr lang="en-US" sz="1400" dirty="0"/>
            </a:br>
            <a:endParaRPr lang="en-US" sz="1400" dirty="0"/>
          </a:p>
          <a:p>
            <a:pPr marL="0" lvl="0" indent="0">
              <a:spcBef>
                <a:spcPts val="0"/>
              </a:spcBef>
              <a:buSzPts val="3000"/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71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C9B4FE3-4339-CA50-CB18-52A1EF97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465ADE-8901-AB75-31E3-6044A7DD6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9413823" cy="7130143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38E99D08-539D-8F49-2714-9E5BEAF71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INSIGHTS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3C7BCB40-FA79-6FA1-EA9D-8D52CF438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134820"/>
            <a:ext cx="7996230" cy="5091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/>
              <a:t>Task 4: Distribution of purchase categories relative to age group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Product category preference varies across age groups:</a:t>
            </a:r>
          </a:p>
          <a:p>
            <a:pPr marL="903288" indent="-425450">
              <a:lnSpc>
                <a:spcPct val="150000"/>
              </a:lnSpc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    46–60 age group</a:t>
            </a:r>
            <a:r>
              <a:rPr lang="en-US" sz="1400" dirty="0"/>
              <a:t> contributes the highest share across most categories.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 Categories like </a:t>
            </a:r>
            <a:r>
              <a:rPr lang="en-US" sz="1400" b="1" dirty="0"/>
              <a:t>Clothing, Cosmetics, and Books</a:t>
            </a:r>
            <a:r>
              <a:rPr lang="en-US" sz="1400" dirty="0"/>
              <a:t> are popular across all   </a:t>
            </a:r>
          </a:p>
          <a:p>
            <a:pPr marL="477838" indent="0">
              <a:buClr>
                <a:schemeClr val="tx1"/>
              </a:buClr>
              <a:buSzPct val="130000"/>
              <a:buNone/>
            </a:pPr>
            <a:r>
              <a:rPr lang="en-US" sz="1400" dirty="0"/>
              <a:t>           age groups.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 Younger groups (18–25, 26–35) show balanced interest across </a:t>
            </a:r>
          </a:p>
          <a:p>
            <a:pPr marL="477838" indent="0">
              <a:buClr>
                <a:schemeClr val="tx1"/>
              </a:buClr>
              <a:buSzPct val="130000"/>
              <a:buNone/>
            </a:pPr>
            <a:r>
              <a:rPr lang="en-US" sz="1400" dirty="0"/>
              <a:t>           categories, while middle-aged groups spend more consistently.</a:t>
            </a:r>
          </a:p>
          <a:p>
            <a:pPr marL="903288" indent="-42545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Task 5: How is the shopping distribution according to age?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Shopping distribution by age shows: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   46–60 age group</a:t>
            </a:r>
            <a:r>
              <a:rPr lang="en-US" sz="1400" dirty="0"/>
              <a:t> has the highest shopping share.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Followed by </a:t>
            </a:r>
            <a:r>
              <a:rPr lang="en-US" sz="1400" b="1" dirty="0"/>
              <a:t>36–45</a:t>
            </a:r>
            <a:r>
              <a:rPr lang="en-US" sz="1400" dirty="0"/>
              <a:t> and </a:t>
            </a:r>
            <a:r>
              <a:rPr lang="en-US" sz="1400" b="1" dirty="0"/>
              <a:t>26–35</a:t>
            </a:r>
            <a:r>
              <a:rPr lang="en-US" sz="1400" dirty="0"/>
              <a:t>.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   18–25</a:t>
            </a:r>
            <a:r>
              <a:rPr lang="en-US" sz="1400" dirty="0"/>
              <a:t> has the lowest shopping contribution.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This indicates that middle-aged customers are the most active shoppers.</a:t>
            </a:r>
          </a:p>
          <a:p>
            <a:pPr marL="903288" indent="-42545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Task 6: Which age category did we sell more products to?</a:t>
            </a:r>
          </a:p>
          <a:p>
            <a:pPr marL="903288" indent="-425450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The </a:t>
            </a:r>
            <a:r>
              <a:rPr lang="en-US" sz="1400" b="1" dirty="0"/>
              <a:t>46–60 age group purchased the highest number of products</a:t>
            </a:r>
            <a:r>
              <a:rPr lang="en-US" sz="1400" dirty="0"/>
              <a:t> (~85K units).</a:t>
            </a:r>
            <a:br>
              <a:rPr lang="en-US" sz="1400" dirty="0"/>
            </a:br>
            <a:r>
              <a:rPr lang="en-US" sz="1400" dirty="0"/>
              <a:t>This age group forms the </a:t>
            </a:r>
            <a:r>
              <a:rPr lang="en-US" sz="1400" b="1" dirty="0"/>
              <a:t>core customer base</a:t>
            </a:r>
            <a:r>
              <a:rPr lang="en-US" sz="1400" dirty="0"/>
              <a:t> in terms of quantity sold.</a:t>
            </a:r>
          </a:p>
          <a:p>
            <a:pPr marL="0" lvl="0" indent="0">
              <a:spcBef>
                <a:spcPts val="0"/>
              </a:spcBef>
              <a:buSzPts val="3000"/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40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6ED4021-C857-F60E-F949-5B901DC1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FC5FB9-B607-C762-B53B-CF8CEA507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413823" cy="6972300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9A2E17FD-0239-F7EB-48D2-EEA266DCD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INSIGHTS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8081FC80-DE72-796A-82D1-590E8054E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349830"/>
            <a:ext cx="7996230" cy="456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/>
              <a:t>Task 7: Which age category generated more revenue?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The </a:t>
            </a:r>
            <a:r>
              <a:rPr lang="en-US" sz="1400" b="1" dirty="0"/>
              <a:t>46–60 age group generated the highest revenue</a:t>
            </a:r>
            <a:r>
              <a:rPr lang="en-US" sz="1400" dirty="0"/>
              <a:t> (~₹19.6M).</a:t>
            </a:r>
            <a:br>
              <a:rPr lang="en-US" sz="1400" dirty="0"/>
            </a:br>
            <a:r>
              <a:rPr lang="en-US" sz="1400" dirty="0"/>
              <a:t>They are followed by: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 36–45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 26–35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This indicates higher purchasing power and consistent spending in the 46–60 segment.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Task 8: Distribution of purchase categories relative to gender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Product category distribution shows: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   Female customers dominate most categories</a:t>
            </a:r>
            <a:r>
              <a:rPr lang="en-US" sz="1400" dirty="0"/>
              <a:t>, contributing ~58–60%.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Male contribution remains consistent at ~40%.</a:t>
            </a:r>
          </a:p>
          <a:p>
            <a:pPr marL="914400" indent="-446088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This indicates strong female preference across categories such as                                  </a:t>
            </a:r>
          </a:p>
          <a:p>
            <a:pPr marL="446088" indent="0">
              <a:buClr>
                <a:schemeClr val="tx1"/>
              </a:buClr>
              <a:buSzPct val="130000"/>
              <a:buNone/>
            </a:pPr>
            <a:r>
              <a:rPr lang="en-US" sz="1400" dirty="0"/>
              <a:t>          Clothing, Cosmetics, and Books.</a:t>
            </a:r>
          </a:p>
          <a:p>
            <a:pPr marL="11430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079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05FD2C3-C103-B9FC-1DBD-C95D82C7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9951BD-EB35-A8DD-22CC-1F4F3E823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413823" cy="6858000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54D3E336-D8CF-70D7-6E1C-EBE86D650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INSIGHTS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644597FC-D6D6-7431-C3F3-CD4F9E664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134820"/>
            <a:ext cx="7773258" cy="471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Task 9: Does the payment method have a relation with other columns?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Yes, </a:t>
            </a:r>
            <a:r>
              <a:rPr lang="en-US" sz="1400" b="1" dirty="0"/>
              <a:t>payment method shows a clear relationship with age and gender</a:t>
            </a:r>
            <a:r>
              <a:rPr lang="en-US" sz="1400" dirty="0"/>
              <a:t>.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Cash</a:t>
            </a:r>
            <a:r>
              <a:rPr lang="en-US" sz="1400" dirty="0"/>
              <a:t> is more popular among older age groups.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Credit and Debit cards</a:t>
            </a:r>
            <a:r>
              <a:rPr lang="en-US" sz="1400" dirty="0"/>
              <a:t> are more preferred by younger and middle-aged customers.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Female customers show slightly higher digital payment usage than males.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This confirms that payment behavior varies by demographic group.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Task 10: How is the distribution of the payment method?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Payment method distribution shows: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b="1" dirty="0"/>
              <a:t>   Cash</a:t>
            </a:r>
            <a:r>
              <a:rPr lang="en-US" sz="1400" dirty="0"/>
              <a:t> is the most used payment method.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Followed by </a:t>
            </a:r>
            <a:r>
              <a:rPr lang="en-US" sz="1400" b="1" dirty="0"/>
              <a:t>Credit Card</a:t>
            </a:r>
            <a:r>
              <a:rPr lang="en-US" sz="1400" dirty="0"/>
              <a:t>, then </a:t>
            </a:r>
            <a:r>
              <a:rPr lang="en-US" sz="1400" b="1" dirty="0"/>
              <a:t>Debit Card</a:t>
            </a:r>
            <a:r>
              <a:rPr lang="en-US" sz="1400" dirty="0"/>
              <a:t>.</a:t>
            </a:r>
          </a:p>
          <a:p>
            <a:pPr marL="903288" indent="-404813">
              <a:buClr>
                <a:schemeClr val="tx1"/>
              </a:buClr>
              <a:buSzPct val="130000"/>
              <a:buFont typeface="Wingdings" panose="05000000000000000000" pitchFamily="2" charset="2"/>
              <a:buChar char="Ø"/>
            </a:pPr>
            <a:r>
              <a:rPr lang="en-US" sz="1400" dirty="0"/>
              <a:t>   Despite digital growth, cash remains dominant among customers.</a:t>
            </a:r>
          </a:p>
          <a:p>
            <a:pPr marL="0" lvl="0" indent="0">
              <a:spcBef>
                <a:spcPts val="0"/>
              </a:spcBef>
              <a:buSzPts val="3000"/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71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9F26C33-DF7D-EC11-A148-76D7984F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BEB0FA-F465-7DF0-19D1-6479B58FC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413823" cy="7064829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377AADF1-4238-A37A-11F7-1F9E00559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77162E84-8912-44D9-8F9F-062D9A42F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230086"/>
            <a:ext cx="777325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Shopping Distribution by Gender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1143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female customers contribute the majority of shopping activity, the company should: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female-focused marketing campaigns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women-centric loyalty programs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offers to encourage higher engagement from male customers.</a:t>
            </a:r>
          </a:p>
          <a:p>
            <a:pPr marL="571500" lvl="1" indent="0">
              <a:buClr>
                <a:schemeClr val="tx1"/>
              </a:buClr>
              <a:buSzPct val="130000"/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Product Sales by Gender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inventory for products preferred by female customers.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offers and discounts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boost product sales among male customers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personalized recommendations based on gender preferences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Revenue Generated by Gender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and high-margin products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female customers.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upselling and cross-selling strategies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male customers to improve revenue.</a:t>
            </a:r>
          </a:p>
          <a:p>
            <a:pPr lvl="1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exclusive offers for high-spending customer segments.</a:t>
            </a:r>
          </a:p>
          <a:p>
            <a:pPr marL="571500" lvl="1" indent="0">
              <a:buClr>
                <a:schemeClr val="tx1"/>
              </a:buClr>
              <a:buSzPct val="130000"/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09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3C99157-3A41-E5D8-CF7E-5D4E2AFB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156689-B9E0-DD29-8541-92C40D6E7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413823" cy="6858000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4F28C281-6267-935C-D521-601D6C5E5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3A775C2E-25BF-3A2A-FD6B-23BC9AAD1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317170"/>
            <a:ext cx="7773258" cy="470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Product Category Distribution by Age Group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 product placement based on age group preferences.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high-demand categories more for middle-aged customers (46–60).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age-specific promotions for underperforming categories.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5: Shopping Distribution by Age Group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strategies (membership, loyalty points) on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46–60 and 36–45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groups.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student or youth discounts to increase shopping from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18–25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segment.</a:t>
            </a:r>
          </a:p>
          <a:p>
            <a:pPr marL="1143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6: Total Products Sold by Age Group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supply chain planning for age groups purchasing more products.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bulk purchase discounts for the most active age groups.</a:t>
            </a:r>
          </a:p>
          <a:p>
            <a:pPr marL="914400" indent="-333375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repeat purchases using reward programs.</a:t>
            </a:r>
          </a:p>
        </p:txBody>
      </p:sp>
    </p:spTree>
    <p:extLst>
      <p:ext uri="{BB962C8B-B14F-4D97-AF65-F5344CB8AC3E}">
        <p14:creationId xmlns:p14="http://schemas.microsoft.com/office/powerpoint/2010/main" val="2588500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6E11950-A0BC-E3B5-2845-041AD438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2D8FBC-BC02-EC14-0ADB-C252278B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413823" cy="6858000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2512F0D3-977C-38C8-C52C-1F1E26A649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9CD5796A-A158-2203-16A1-503A55405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423554"/>
            <a:ext cx="7773258" cy="442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7: Revenue Contribution by Age Group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935038" indent="-311150" defTabSz="893763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premium brands and higher-value products to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46–60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group.</a:t>
            </a:r>
          </a:p>
          <a:p>
            <a:pPr marL="935038" indent="-311150" defTabSz="893763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EMI or flexible pricing options for other age segments to increase revenue.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8: Product Category Distribution by Gender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935038" indent="-311150" defTabSz="893763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gender-based product recommendations on digital platforms.</a:t>
            </a:r>
          </a:p>
          <a:p>
            <a:pPr marL="935038" indent="-311150" defTabSz="893763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popular female-oriented categories prominently in stores and apps.</a:t>
            </a:r>
          </a:p>
          <a:p>
            <a:pPr marL="935038" indent="-311150" defTabSz="893763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targeted ads highlighting category preferences.</a:t>
            </a:r>
          </a:p>
          <a:p>
            <a:pPr marL="93663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86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B42A618-CB59-BEAA-FAC8-B1361478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CE89A1-9B25-D5EC-BCDE-530DD46AB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413823" cy="6858000"/>
          </a:xfrm>
          <a:prstGeom prst="rect">
            <a:avLst/>
          </a:prstGeom>
        </p:spPr>
      </p:pic>
      <p:sp>
        <p:nvSpPr>
          <p:cNvPr id="175" name="Google Shape;175;p26">
            <a:extLst>
              <a:ext uri="{FF2B5EF4-FFF2-40B4-BE49-F238E27FC236}">
                <a16:creationId xmlns:a16="http://schemas.microsoft.com/office/drawing/2014/main" id="{D2547A42-A0BB-2F50-D7F0-CA015568B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4478" y="467590"/>
            <a:ext cx="7861149" cy="6672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:</a:t>
            </a:r>
          </a:p>
        </p:txBody>
      </p:sp>
      <p:sp>
        <p:nvSpPr>
          <p:cNvPr id="176" name="Google Shape;176;p26">
            <a:extLst>
              <a:ext uri="{FF2B5EF4-FFF2-40B4-BE49-F238E27FC236}">
                <a16:creationId xmlns:a16="http://schemas.microsoft.com/office/drawing/2014/main" id="{F0E1818B-D549-CF2F-CB25-579F9B573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479" y="1288472"/>
            <a:ext cx="7773258" cy="455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9: Relationship Between Payment Method and Customer Attributes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914400" indent="-27940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digital payments among older customers through cashback offers.</a:t>
            </a:r>
          </a:p>
          <a:p>
            <a:pPr marL="914400" indent="-27940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cash payment options while gradually promoting card usage.</a:t>
            </a:r>
          </a:p>
          <a:p>
            <a:pPr marL="914400" indent="-27940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 with banks and payment providers for co-branded offers.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10: Distribution of Payment Method</a:t>
            </a:r>
          </a:p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Suggestion:</a:t>
            </a:r>
          </a:p>
          <a:p>
            <a:pPr marL="914400" indent="-27940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digital payment infrastructure due to growing card usage.</a:t>
            </a:r>
          </a:p>
          <a:p>
            <a:pPr marL="914400" indent="-27940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exclusive discounts for credit/debit card payments.</a:t>
            </a:r>
          </a:p>
          <a:p>
            <a:pPr marL="914400" indent="-27940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supporting cash payments to retain traditional customers.</a:t>
            </a:r>
          </a:p>
        </p:txBody>
      </p:sp>
    </p:spTree>
    <p:extLst>
      <p:ext uri="{BB962C8B-B14F-4D97-AF65-F5344CB8AC3E}">
        <p14:creationId xmlns:p14="http://schemas.microsoft.com/office/powerpoint/2010/main" val="1976265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5C2CD-D92D-58EC-1466-16BE56D9B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685800" y="31242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Comic Sans MS"/>
              <a:buNone/>
            </a:pPr>
            <a:r>
              <a:rPr lang="en-US" sz="4800" b="1" i="0" u="none" dirty="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YOU…..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1456</Words>
  <Application>Microsoft Office PowerPoint</Application>
  <PresentationFormat>On-screen Show (4:3)</PresentationFormat>
  <Paragraphs>170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Comic Sans MS</vt:lpstr>
      <vt:lpstr>Noto Sans Symbols</vt:lpstr>
      <vt:lpstr>Segoe UI Black</vt:lpstr>
      <vt:lpstr>Times New Roman</vt:lpstr>
      <vt:lpstr>Verdana</vt:lpstr>
      <vt:lpstr>Wingdings</vt:lpstr>
      <vt:lpstr>1_Profile</vt:lpstr>
      <vt:lpstr>Profile</vt:lpstr>
      <vt:lpstr>Customer Data Analysis</vt:lpstr>
      <vt:lpstr>PROJECT TITLE : PRDA-05 Customer Data Analysis</vt:lpstr>
      <vt:lpstr> OBJECTIVE :</vt:lpstr>
      <vt:lpstr>ABOUT DATASET :</vt:lpstr>
      <vt:lpstr>PowerPoint Presentation</vt:lpstr>
      <vt:lpstr>Tasks :</vt:lpstr>
      <vt:lpstr>Dashboard:</vt:lpstr>
      <vt:lpstr>DERIVED INSIGHTS :</vt:lpstr>
      <vt:lpstr>DERIVED INSIGHTS :</vt:lpstr>
      <vt:lpstr>DERIVED INSIGHTS :</vt:lpstr>
      <vt:lpstr>DERIVED INSIGHTS :</vt:lpstr>
      <vt:lpstr>SUGGESTIONS :</vt:lpstr>
      <vt:lpstr>SUGGESTIONS :</vt:lpstr>
      <vt:lpstr>SUGGESTIONS :</vt:lpstr>
      <vt:lpstr>SUGGESTIONS :</vt:lpstr>
      <vt:lpstr>THANK YOU…..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VELTECH RANGA SANKU  ARTS COLLEGE AVADI,CHENNAI  DEPARTMENT OF COMPUTER APPLICATIONS</dc:title>
  <dc:creator>ARUN SAI</dc:creator>
  <cp:lastModifiedBy>jeyasima c</cp:lastModifiedBy>
  <cp:revision>29</cp:revision>
  <dcterms:modified xsi:type="dcterms:W3CDTF">2025-12-16T08:14:11Z</dcterms:modified>
</cp:coreProperties>
</file>